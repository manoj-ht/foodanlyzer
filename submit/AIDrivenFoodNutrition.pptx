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4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</p:sldMasterIdLst>
  <p:sldIdLst>
    <p:sldId id="256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265" r:id="rId37"/>
    <p:sldId id="266" r:id="rId38"/>
    <p:sldId id="267" r:id="rId39"/>
    <p:sldId id="268" r:id="rId4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" Target="slides/slide1.xml"/><Relationship Id="rId29" Type="http://schemas.openxmlformats.org/officeDocument/2006/relationships/slide" Target="slides/slide2.xml"/><Relationship Id="rId30" Type="http://schemas.openxmlformats.org/officeDocument/2006/relationships/slide" Target="slides/slide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6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10.xml"/><Relationship Id="rId38" Type="http://schemas.openxmlformats.org/officeDocument/2006/relationships/slide" Target="slides/slide11.xml"/><Relationship Id="rId39" Type="http://schemas.openxmlformats.org/officeDocument/2006/relationships/slide" Target="slides/slide12.xml"/><Relationship Id="rId40" Type="http://schemas.openxmlformats.org/officeDocument/2006/relationships/slide" Target="slides/slide13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1;p2"/>
          <p:cNvSpPr/>
          <p:nvPr/>
        </p:nvSpPr>
        <p:spPr>
          <a:xfrm>
            <a:off x="8904240" y="185184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2;p2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outline text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nth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Outli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1"/>
          <p:cNvSpPr/>
          <p:nvPr/>
        </p:nvSpPr>
        <p:spPr>
          <a:xfrm>
            <a:off x="2295000" y="-160812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63;p11"/>
          <p:cNvSpPr/>
          <p:nvPr/>
        </p:nvSpPr>
        <p:spPr>
          <a:xfrm>
            <a:off x="-450360" y="19134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Google Shape;64;p11"/>
          <p:cNvSpPr/>
          <p:nvPr/>
        </p:nvSpPr>
        <p:spPr>
          <a:xfrm>
            <a:off x="8429040" y="1474560"/>
            <a:ext cx="1582560" cy="15825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Google Shape;65;p11" descr=""/>
          <p:cNvPicPr/>
          <p:nvPr/>
        </p:nvPicPr>
        <p:blipFill>
          <a:blip r:embed="rId2"/>
          <a:srcRect l="72465" t="10630" r="22254" b="80556"/>
          <a:stretch/>
        </p:blipFill>
        <p:spPr>
          <a:xfrm>
            <a:off x="8367840" y="2080800"/>
            <a:ext cx="371880" cy="372960"/>
          </a:xfrm>
          <a:prstGeom prst="rect">
            <a:avLst/>
          </a:prstGeom>
          <a:ln w="0">
            <a:noFill/>
          </a:ln>
        </p:spPr>
      </p:pic>
      <p:pic>
        <p:nvPicPr>
          <p:cNvPr id="10" name="Google Shape;66;p11" descr=""/>
          <p:cNvPicPr/>
          <p:nvPr/>
        </p:nvPicPr>
        <p:blipFill>
          <a:blip r:embed="rId3"/>
          <a:srcRect l="72465" t="10630" r="22254" b="80556"/>
          <a:stretch/>
        </p:blipFill>
        <p:spPr>
          <a:xfrm>
            <a:off x="142560" y="2245680"/>
            <a:ext cx="371880" cy="372960"/>
          </a:xfrm>
          <a:prstGeom prst="rect">
            <a:avLst/>
          </a:prstGeom>
          <a:ln w="0">
            <a:noFill/>
          </a:ln>
        </p:spPr>
      </p:pic>
      <p:sp>
        <p:nvSpPr>
          <p:cNvPr id="11" name="Google Shape;67;p11"/>
          <p:cNvSpPr/>
          <p:nvPr/>
        </p:nvSpPr>
        <p:spPr>
          <a:xfrm>
            <a:off x="4668120" y="4555440"/>
            <a:ext cx="1582560" cy="15825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3;p13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Google Shape;84;p13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194760" y="4200840"/>
            <a:ext cx="408240" cy="48708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6;p14"/>
          <p:cNvSpPr/>
          <p:nvPr/>
        </p:nvSpPr>
        <p:spPr>
          <a:xfrm>
            <a:off x="-351000" y="-396720"/>
            <a:ext cx="1491120" cy="14911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Google Shape;88;p14"/>
          <p:cNvSpPr/>
          <p:nvPr/>
        </p:nvSpPr>
        <p:spPr>
          <a:xfrm>
            <a:off x="8700120" y="3504960"/>
            <a:ext cx="788760" cy="7887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89;p14"/>
          <p:cNvSpPr/>
          <p:nvPr/>
        </p:nvSpPr>
        <p:spPr>
          <a:xfrm>
            <a:off x="8799840" y="251640"/>
            <a:ext cx="506160" cy="5061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Google Shape;90;p14" descr=""/>
          <p:cNvPicPr/>
          <p:nvPr/>
        </p:nvPicPr>
        <p:blipFill>
          <a:blip r:embed="rId2"/>
          <a:srcRect l="72465" t="10630" r="22254" b="80556"/>
          <a:stretch/>
        </p:blipFill>
        <p:spPr>
          <a:xfrm>
            <a:off x="8657640" y="1017720"/>
            <a:ext cx="371880" cy="37296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98;p15"/>
          <p:cNvSpPr/>
          <p:nvPr/>
        </p:nvSpPr>
        <p:spPr>
          <a:xfrm>
            <a:off x="-430560" y="404748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99;p15"/>
          <p:cNvSpPr/>
          <p:nvPr/>
        </p:nvSpPr>
        <p:spPr>
          <a:xfrm>
            <a:off x="7654680" y="-4716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10;p17"/>
          <p:cNvSpPr/>
          <p:nvPr/>
        </p:nvSpPr>
        <p:spPr>
          <a:xfrm>
            <a:off x="8865720" y="1818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111;p17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25;p19"/>
          <p:cNvSpPr/>
          <p:nvPr/>
        </p:nvSpPr>
        <p:spPr>
          <a:xfrm>
            <a:off x="-1140120" y="426384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126;p19"/>
          <p:cNvSpPr/>
          <p:nvPr/>
        </p:nvSpPr>
        <p:spPr>
          <a:xfrm>
            <a:off x="8281440" y="3878640"/>
            <a:ext cx="344160" cy="3441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27;p19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28;p19"/>
          <p:cNvSpPr/>
          <p:nvPr/>
        </p:nvSpPr>
        <p:spPr>
          <a:xfrm>
            <a:off x="8016120" y="-115848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39;p20"/>
          <p:cNvSpPr/>
          <p:nvPr/>
        </p:nvSpPr>
        <p:spPr>
          <a:xfrm>
            <a:off x="8363880" y="641520"/>
            <a:ext cx="1540080" cy="15400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40;p20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Google Shape;141;p20" descr=""/>
          <p:cNvPicPr/>
          <p:nvPr/>
        </p:nvPicPr>
        <p:blipFill>
          <a:blip r:embed="rId2"/>
          <a:srcRect l="72465" t="10630" r="22254" b="80556"/>
          <a:stretch/>
        </p:blipFill>
        <p:spPr>
          <a:xfrm>
            <a:off x="8546760" y="1945080"/>
            <a:ext cx="371880" cy="372960"/>
          </a:xfrm>
          <a:prstGeom prst="rect">
            <a:avLst/>
          </a:prstGeom>
          <a:ln w="0">
            <a:noFill/>
          </a:ln>
        </p:spPr>
      </p:pic>
      <p:pic>
        <p:nvPicPr>
          <p:cNvPr id="45" name="Google Shape;142;p20" descr=""/>
          <p:cNvPicPr/>
          <p:nvPr/>
        </p:nvPicPr>
        <p:blipFill>
          <a:blip r:embed="rId3"/>
          <a:srcRect l="18381" t="13178" r="75621" b="74913"/>
          <a:stretch/>
        </p:blipFill>
        <p:spPr>
          <a:xfrm>
            <a:off x="194760" y="4200840"/>
            <a:ext cx="408240" cy="487080"/>
          </a:xfrm>
          <a:prstGeom prst="rect">
            <a:avLst/>
          </a:prstGeom>
          <a:ln w="0">
            <a:noFill/>
          </a:ln>
        </p:spPr>
      </p:pic>
      <p:pic>
        <p:nvPicPr>
          <p:cNvPr id="46" name="Google Shape;143;p20" descr=""/>
          <p:cNvPicPr/>
          <p:nvPr/>
        </p:nvPicPr>
        <p:blipFill>
          <a:blip r:embed="rId4"/>
          <a:srcRect l="22301" t="8210" r="31877" b="35185"/>
          <a:stretch/>
        </p:blipFill>
        <p:spPr>
          <a:xfrm>
            <a:off x="8243280" y="1195200"/>
            <a:ext cx="572040" cy="61164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6;p3"/>
          <p:cNvSpPr/>
          <p:nvPr/>
        </p:nvSpPr>
        <p:spPr>
          <a:xfrm>
            <a:off x="-386640" y="30096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7;p3"/>
          <p:cNvSpPr/>
          <p:nvPr/>
        </p:nvSpPr>
        <p:spPr>
          <a:xfrm>
            <a:off x="1254960" y="-1076040"/>
            <a:ext cx="1681920" cy="16819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8;p3"/>
          <p:cNvSpPr/>
          <p:nvPr/>
        </p:nvSpPr>
        <p:spPr>
          <a:xfrm>
            <a:off x="8770680" y="2300400"/>
            <a:ext cx="610560" cy="6105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45;p21"/>
          <p:cNvSpPr/>
          <p:nvPr/>
        </p:nvSpPr>
        <p:spPr>
          <a:xfrm>
            <a:off x="-905760" y="-70596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159;p21"/>
          <p:cNvSpPr/>
          <p:nvPr/>
        </p:nvSpPr>
        <p:spPr>
          <a:xfrm>
            <a:off x="8305920" y="656280"/>
            <a:ext cx="942840" cy="94284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Google Shape;160;p21"/>
          <p:cNvSpPr/>
          <p:nvPr/>
        </p:nvSpPr>
        <p:spPr>
          <a:xfrm>
            <a:off x="-357120" y="4016520"/>
            <a:ext cx="942840" cy="94284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Google Shape;161;p21" descr=""/>
          <p:cNvPicPr/>
          <p:nvPr/>
        </p:nvPicPr>
        <p:blipFill>
          <a:blip r:embed="rId2"/>
          <a:srcRect l="22301" t="8210" r="31877" b="35185"/>
          <a:stretch/>
        </p:blipFill>
        <p:spPr>
          <a:xfrm>
            <a:off x="289800" y="4302360"/>
            <a:ext cx="572040" cy="611640"/>
          </a:xfrm>
          <a:prstGeom prst="rect">
            <a:avLst/>
          </a:prstGeom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65;p22"/>
          <p:cNvSpPr/>
          <p:nvPr/>
        </p:nvSpPr>
        <p:spPr>
          <a:xfrm>
            <a:off x="742320" y="3233160"/>
            <a:ext cx="362628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CREDITS: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This presentation template was created by </a:t>
            </a:r>
            <a:r>
              <a:rPr b="1" lang="en" sz="10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2"/>
              </a:rPr>
              <a:t>Slidesgo</a:t>
            </a:r>
            <a:r>
              <a:rPr b="1" lang="en" sz="10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</a:rPr>
              <a:t>,</a:t>
            </a:r>
            <a:r>
              <a:rPr b="1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and includes icons by </a:t>
            </a:r>
            <a:r>
              <a:rPr b="1" lang="en" sz="10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3"/>
              </a:rPr>
              <a:t>Flaticon</a:t>
            </a:r>
            <a:r>
              <a:rPr b="1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and infographics &amp; images by </a:t>
            </a:r>
            <a:r>
              <a:rPr b="1" lang="en" sz="1000" spc="-1" strike="noStrike" u="sng">
                <a:solidFill>
                  <a:schemeClr val="dk1"/>
                </a:solidFill>
                <a:uFillTx/>
                <a:latin typeface="Albert Sans"/>
                <a:ea typeface="Albert Sans"/>
                <a:hlinkClick r:id="rId4"/>
              </a:rPr>
              <a:t>Freepik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167;p23"/>
          <p:cNvSpPr/>
          <p:nvPr/>
        </p:nvSpPr>
        <p:spPr>
          <a:xfrm>
            <a:off x="8305920" y="656280"/>
            <a:ext cx="942840" cy="94284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Google Shape;168;p23"/>
          <p:cNvSpPr/>
          <p:nvPr/>
        </p:nvSpPr>
        <p:spPr>
          <a:xfrm>
            <a:off x="-357120" y="4016520"/>
            <a:ext cx="942840" cy="94284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Google Shape;169;p23" descr=""/>
          <p:cNvPicPr/>
          <p:nvPr/>
        </p:nvPicPr>
        <p:blipFill>
          <a:blip r:embed="rId2"/>
          <a:srcRect l="22301" t="8210" r="31877" b="35185"/>
          <a:stretch/>
        </p:blipFill>
        <p:spPr>
          <a:xfrm>
            <a:off x="289800" y="4302360"/>
            <a:ext cx="572040" cy="61164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170;p23"/>
          <p:cNvSpPr/>
          <p:nvPr/>
        </p:nvSpPr>
        <p:spPr>
          <a:xfrm>
            <a:off x="-905760" y="-70596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72;p24"/>
          <p:cNvSpPr/>
          <p:nvPr/>
        </p:nvSpPr>
        <p:spPr>
          <a:xfrm>
            <a:off x="-450360" y="19134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173;p24"/>
          <p:cNvSpPr/>
          <p:nvPr/>
        </p:nvSpPr>
        <p:spPr>
          <a:xfrm>
            <a:off x="8429040" y="1474560"/>
            <a:ext cx="1582560" cy="15825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Google Shape;174;p24" descr=""/>
          <p:cNvPicPr/>
          <p:nvPr/>
        </p:nvPicPr>
        <p:blipFill>
          <a:blip r:embed="rId2"/>
          <a:srcRect l="72465" t="10630" r="22254" b="80556"/>
          <a:stretch/>
        </p:blipFill>
        <p:spPr>
          <a:xfrm>
            <a:off x="142560" y="2245680"/>
            <a:ext cx="371880" cy="37296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175;p24"/>
          <p:cNvSpPr/>
          <p:nvPr/>
        </p:nvSpPr>
        <p:spPr>
          <a:xfrm>
            <a:off x="4668120" y="4555440"/>
            <a:ext cx="1582560" cy="15825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22;p4"/>
          <p:cNvSpPr/>
          <p:nvPr/>
        </p:nvSpPr>
        <p:spPr>
          <a:xfrm>
            <a:off x="-1140120" y="426384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23;p4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24;p4"/>
          <p:cNvSpPr/>
          <p:nvPr/>
        </p:nvSpPr>
        <p:spPr>
          <a:xfrm>
            <a:off x="8865720" y="1818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31;p5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Google Shape;32;p5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334800" y="3796200"/>
            <a:ext cx="469080" cy="55980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33;p5"/>
          <p:cNvSpPr/>
          <p:nvPr/>
        </p:nvSpPr>
        <p:spPr>
          <a:xfrm>
            <a:off x="8904240" y="185184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36;p6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316080" y="4388400"/>
            <a:ext cx="469080" cy="559800"/>
          </a:xfrm>
          <a:prstGeom prst="rect">
            <a:avLst/>
          </a:prstGeom>
          <a:ln w="0">
            <a:noFill/>
          </a:ln>
        </p:spPr>
      </p:pic>
      <p:sp>
        <p:nvSpPr>
          <p:cNvPr id="88" name="Google Shape;37;p6"/>
          <p:cNvSpPr/>
          <p:nvPr/>
        </p:nvSpPr>
        <p:spPr>
          <a:xfrm>
            <a:off x="-363240" y="392544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38;p6"/>
          <p:cNvSpPr/>
          <p:nvPr/>
        </p:nvSpPr>
        <p:spPr>
          <a:xfrm>
            <a:off x="7883280" y="-383400"/>
            <a:ext cx="1836360" cy="18363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43;p7"/>
          <p:cNvSpPr/>
          <p:nvPr/>
        </p:nvSpPr>
        <p:spPr>
          <a:xfrm>
            <a:off x="-1140120" y="426384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44;p7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45;p7"/>
          <p:cNvSpPr/>
          <p:nvPr/>
        </p:nvSpPr>
        <p:spPr>
          <a:xfrm>
            <a:off x="8865720" y="1818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48;p8"/>
          <p:cNvSpPr/>
          <p:nvPr/>
        </p:nvSpPr>
        <p:spPr>
          <a:xfrm>
            <a:off x="8904240" y="185184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49;p8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53;p9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316080" y="4388400"/>
            <a:ext cx="469080" cy="559800"/>
          </a:xfrm>
          <a:prstGeom prst="rect">
            <a:avLst/>
          </a:prstGeom>
          <a:ln w="0">
            <a:noFill/>
          </a:ln>
        </p:spPr>
      </p:pic>
      <p:sp>
        <p:nvSpPr>
          <p:cNvPr id="101" name="Google Shape;54;p9"/>
          <p:cNvSpPr/>
          <p:nvPr/>
        </p:nvSpPr>
        <p:spPr>
          <a:xfrm>
            <a:off x="-363240" y="392544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55;p9"/>
          <p:cNvSpPr/>
          <p:nvPr/>
        </p:nvSpPr>
        <p:spPr>
          <a:xfrm>
            <a:off x="7883280" y="-383400"/>
            <a:ext cx="1836360" cy="18363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31;p5"/>
          <p:cNvSpPr/>
          <p:nvPr/>
        </p:nvSpPr>
        <p:spPr>
          <a:xfrm>
            <a:off x="-344880" y="333360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Google Shape;32;p5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334800" y="3796200"/>
            <a:ext cx="469080" cy="559800"/>
          </a:xfrm>
          <a:prstGeom prst="rect">
            <a:avLst/>
          </a:prstGeom>
          <a:ln w="0">
            <a:noFill/>
          </a:ln>
        </p:spPr>
      </p:pic>
      <p:sp>
        <p:nvSpPr>
          <p:cNvPr id="109" name="Google Shape;33;p5"/>
          <p:cNvSpPr/>
          <p:nvPr/>
        </p:nvSpPr>
        <p:spPr>
          <a:xfrm>
            <a:off x="8904240" y="1851840"/>
            <a:ext cx="705600" cy="7056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github.com/openai/whisper?utm_source=chatgpt.com" TargetMode="External"/><Relationship Id="rId2" Type="http://schemas.openxmlformats.org/officeDocument/2006/relationships/hyperlink" Target="https://huggingface.co/docs/transformers?utm_source=chatgpt.com" TargetMode="External"/><Relationship Id="rId3" Type="http://schemas.openxmlformats.org/officeDocument/2006/relationships/hyperlink" Target="https://huggingface.co/prithivMLmods/Indian-Western-Food-34?utm_source=chatgpt.com" TargetMode="External"/><Relationship Id="rId4" Type="http://schemas.openxmlformats.org/officeDocument/2006/relationships/hyperlink" Target="https://huggingface.co/microsoft/swin-tiny-patch4-window7-224?utm_source=chatgpt.com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1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14960" y="687240"/>
            <a:ext cx="4265640" cy="14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chemeClr val="dk1"/>
                </a:solidFill>
                <a:latin typeface="Livvic"/>
                <a:ea typeface="Livvic"/>
              </a:rPr>
              <a:t>AI-Driven Dietary Pattern Intelligence System for Personalized Nutrition Analysis and Recommendation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88;p28"/>
          <p:cNvSpPr/>
          <p:nvPr/>
        </p:nvSpPr>
        <p:spPr>
          <a:xfrm>
            <a:off x="7516080" y="-62424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189;p28" descr=""/>
          <p:cNvPicPr/>
          <p:nvPr/>
        </p:nvPicPr>
        <p:blipFill>
          <a:blip r:embed="rId1"/>
          <a:srcRect l="72465" t="10630" r="22254" b="80556"/>
          <a:stretch/>
        </p:blipFill>
        <p:spPr>
          <a:xfrm>
            <a:off x="7414560" y="1588680"/>
            <a:ext cx="451080" cy="452520"/>
          </a:xfrm>
          <a:prstGeom prst="rect">
            <a:avLst/>
          </a:prstGeom>
          <a:ln w="0">
            <a:noFill/>
          </a:ln>
        </p:spPr>
      </p:pic>
      <p:pic>
        <p:nvPicPr>
          <p:cNvPr id="119" name="Google Shape;190;p28" descr=""/>
          <p:cNvPicPr/>
          <p:nvPr/>
        </p:nvPicPr>
        <p:blipFill>
          <a:blip r:embed="rId2"/>
          <a:srcRect l="24628" t="10980" r="63133" b="66820"/>
          <a:stretch/>
        </p:blipFill>
        <p:spPr>
          <a:xfrm rot="1548000">
            <a:off x="6350400" y="756000"/>
            <a:ext cx="705600" cy="769680"/>
          </a:xfrm>
          <a:prstGeom prst="rect">
            <a:avLst/>
          </a:prstGeom>
          <a:ln w="0">
            <a:noFill/>
          </a:ln>
        </p:spPr>
      </p:pic>
      <p:pic>
        <p:nvPicPr>
          <p:cNvPr id="120" name="Google Shape;191;p28" descr=""/>
          <p:cNvPicPr/>
          <p:nvPr/>
        </p:nvPicPr>
        <p:blipFill>
          <a:blip r:embed="rId3"/>
          <a:srcRect l="18381" t="13178" r="75621" b="74913"/>
          <a:stretch/>
        </p:blipFill>
        <p:spPr>
          <a:xfrm>
            <a:off x="5582880" y="1701000"/>
            <a:ext cx="512640" cy="611640"/>
          </a:xfrm>
          <a:prstGeom prst="rect">
            <a:avLst/>
          </a:prstGeom>
          <a:ln w="0">
            <a:noFill/>
          </a:ln>
        </p:spPr>
      </p:pic>
      <p:pic>
        <p:nvPicPr>
          <p:cNvPr id="121" name="Google Shape;192;p28" descr=""/>
          <p:cNvPicPr/>
          <p:nvPr/>
        </p:nvPicPr>
        <p:blipFill>
          <a:blip r:embed="rId4"/>
          <a:srcRect l="17624" t="21670" r="29783" b="9480"/>
          <a:stretch/>
        </p:blipFill>
        <p:spPr>
          <a:xfrm>
            <a:off x="8206200" y="1303200"/>
            <a:ext cx="668520" cy="66816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193;p28" descr=""/>
          <p:cNvPicPr/>
          <p:nvPr/>
        </p:nvPicPr>
        <p:blipFill>
          <a:blip r:embed="rId5"/>
          <a:stretch/>
        </p:blipFill>
        <p:spPr>
          <a:xfrm>
            <a:off x="4834080" y="2121120"/>
            <a:ext cx="4775760" cy="3197520"/>
          </a:xfrm>
          <a:prstGeom prst="rect">
            <a:avLst/>
          </a:prstGeom>
          <a:ln w="0">
            <a:noFill/>
          </a:ln>
        </p:spPr>
      </p:pic>
      <p:sp>
        <p:nvSpPr>
          <p:cNvPr id="123" name=""/>
          <p:cNvSpPr/>
          <p:nvPr/>
        </p:nvSpPr>
        <p:spPr>
          <a:xfrm>
            <a:off x="720000" y="2520000"/>
            <a:ext cx="341964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Manoj HT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Guide: Mahesh Ramegowda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M.Tech Data Science &amp; Artificial Intelligence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PES University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53880" y="180000"/>
            <a:ext cx="4685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Problem Statement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68360" y="1073880"/>
            <a:ext cx="3851280" cy="27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Existing food tracking applications suffer from: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Manual food logging fatigue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Inconsistent user engagement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Limited support for multimodal inputs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Difficulty converting food logs into actionable dietary insights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Google Shape;246;p32" descr=""/>
          <p:cNvPicPr/>
          <p:nvPr/>
        </p:nvPicPr>
        <p:blipFill>
          <a:blip r:embed="rId1"/>
          <a:srcRect l="22457" t="0" r="22457" b="0"/>
          <a:stretch/>
        </p:blipFill>
        <p:spPr>
          <a:xfrm>
            <a:off x="5063040" y="534960"/>
            <a:ext cx="3365280" cy="407268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247;p32" descr=""/>
          <p:cNvPicPr/>
          <p:nvPr/>
        </p:nvPicPr>
        <p:blipFill>
          <a:blip r:embed="rId2"/>
          <a:srcRect l="24628" t="10980" r="63133" b="66820"/>
          <a:stretch/>
        </p:blipFill>
        <p:spPr>
          <a:xfrm>
            <a:off x="362160" y="4149360"/>
            <a:ext cx="705600" cy="769680"/>
          </a:xfrm>
          <a:prstGeom prst="rect">
            <a:avLst/>
          </a:prstGeom>
          <a:ln w="0">
            <a:noFill/>
          </a:ln>
        </p:spPr>
      </p:pic>
      <p:pic>
        <p:nvPicPr>
          <p:cNvPr id="128" name="Google Shape;248;p32" descr=""/>
          <p:cNvPicPr/>
          <p:nvPr/>
        </p:nvPicPr>
        <p:blipFill>
          <a:blip r:embed="rId3"/>
          <a:srcRect l="18381" t="13178" r="75621" b="74913"/>
          <a:stretch/>
        </p:blipFill>
        <p:spPr>
          <a:xfrm>
            <a:off x="4820760" y="3903120"/>
            <a:ext cx="512640" cy="611640"/>
          </a:xfrm>
          <a:prstGeom prst="rect">
            <a:avLst/>
          </a:prstGeom>
          <a:ln w="0">
            <a:noFill/>
          </a:ln>
        </p:spPr>
      </p:pic>
      <p:pic>
        <p:nvPicPr>
          <p:cNvPr id="129" name="Google Shape;249;p32" descr=""/>
          <p:cNvPicPr/>
          <p:nvPr/>
        </p:nvPicPr>
        <p:blipFill>
          <a:blip r:embed="rId4"/>
          <a:srcRect l="22301" t="8210" r="31877" b="35185"/>
          <a:stretch/>
        </p:blipFill>
        <p:spPr>
          <a:xfrm>
            <a:off x="7813440" y="616320"/>
            <a:ext cx="807840" cy="86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53880" y="180000"/>
            <a:ext cx="468576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Objective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68360" y="1073880"/>
            <a:ext cx="3851280" cy="27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Build a multimodal dietary intelligence system capable of: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Capturing meals through text, image, and voice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Automatically generating nutritional information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Maintaining dietary history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lbert Sans"/>
                <a:ea typeface="Albert Sans"/>
              </a:rPr>
              <a:t>Providing AI-powered insights and recommendations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Google Shape;246;p 1" descr=""/>
          <p:cNvPicPr/>
          <p:nvPr/>
        </p:nvPicPr>
        <p:blipFill>
          <a:blip r:embed="rId1"/>
          <a:srcRect l="22457" t="0" r="22457" b="0"/>
          <a:stretch/>
        </p:blipFill>
        <p:spPr>
          <a:xfrm>
            <a:off x="5063040" y="534960"/>
            <a:ext cx="3365280" cy="4072680"/>
          </a:xfrm>
          <a:prstGeom prst="rect">
            <a:avLst/>
          </a:prstGeom>
          <a:ln w="0">
            <a:noFill/>
          </a:ln>
        </p:spPr>
      </p:pic>
      <p:pic>
        <p:nvPicPr>
          <p:cNvPr id="133" name="Google Shape;247;p 1" descr=""/>
          <p:cNvPicPr/>
          <p:nvPr/>
        </p:nvPicPr>
        <p:blipFill>
          <a:blip r:embed="rId2"/>
          <a:srcRect l="24628" t="10980" r="63133" b="66820"/>
          <a:stretch/>
        </p:blipFill>
        <p:spPr>
          <a:xfrm>
            <a:off x="362160" y="4149360"/>
            <a:ext cx="705600" cy="769680"/>
          </a:xfrm>
          <a:prstGeom prst="rect">
            <a:avLst/>
          </a:prstGeom>
          <a:ln w="0">
            <a:noFill/>
          </a:ln>
        </p:spPr>
      </p:pic>
      <p:pic>
        <p:nvPicPr>
          <p:cNvPr id="134" name="Google Shape;248;p 1" descr=""/>
          <p:cNvPicPr/>
          <p:nvPr/>
        </p:nvPicPr>
        <p:blipFill>
          <a:blip r:embed="rId3"/>
          <a:srcRect l="18381" t="13178" r="75621" b="74913"/>
          <a:stretch/>
        </p:blipFill>
        <p:spPr>
          <a:xfrm>
            <a:off x="4820760" y="3903120"/>
            <a:ext cx="512640" cy="61164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249;p 1" descr=""/>
          <p:cNvPicPr/>
          <p:nvPr/>
        </p:nvPicPr>
        <p:blipFill>
          <a:blip r:embed="rId4"/>
          <a:srcRect l="22301" t="8210" r="31877" b="35185"/>
          <a:stretch/>
        </p:blipFill>
        <p:spPr>
          <a:xfrm>
            <a:off x="7813440" y="616320"/>
            <a:ext cx="807840" cy="86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231;p31" descr=""/>
          <p:cNvPicPr/>
          <p:nvPr/>
        </p:nvPicPr>
        <p:blipFill>
          <a:blip r:embed="rId1"/>
          <a:stretch/>
        </p:blipFill>
        <p:spPr>
          <a:xfrm>
            <a:off x="3938040" y="2206800"/>
            <a:ext cx="5244480" cy="2867400"/>
          </a:xfrm>
          <a:prstGeom prst="rect">
            <a:avLst/>
          </a:prstGeom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41720" y="180000"/>
            <a:ext cx="3517920" cy="61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Project Overview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Google Shape;234;p31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4730760" y="1000440"/>
            <a:ext cx="443520" cy="52920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235;p31" descr=""/>
          <p:cNvPicPr/>
          <p:nvPr/>
        </p:nvPicPr>
        <p:blipFill>
          <a:blip r:embed="rId3"/>
          <a:srcRect l="72465" t="10630" r="22254" b="80556"/>
          <a:stretch/>
        </p:blipFill>
        <p:spPr>
          <a:xfrm>
            <a:off x="4339440" y="4223880"/>
            <a:ext cx="390240" cy="391320"/>
          </a:xfrm>
          <a:prstGeom prst="rect">
            <a:avLst/>
          </a:prstGeom>
          <a:ln w="0">
            <a:noFill/>
          </a:ln>
        </p:spPr>
      </p:pic>
      <p:pic>
        <p:nvPicPr>
          <p:cNvPr id="140" name="Google Shape;236;p31" descr=""/>
          <p:cNvPicPr/>
          <p:nvPr/>
        </p:nvPicPr>
        <p:blipFill>
          <a:blip r:embed="rId4"/>
          <a:srcRect l="72465" t="10630" r="22254" b="80556"/>
          <a:stretch/>
        </p:blipFill>
        <p:spPr>
          <a:xfrm>
            <a:off x="8661600" y="2071800"/>
            <a:ext cx="390240" cy="391320"/>
          </a:xfrm>
          <a:prstGeom prst="rect">
            <a:avLst/>
          </a:prstGeom>
          <a:ln w="0">
            <a:noFill/>
          </a:ln>
        </p:spPr>
      </p:pic>
      <p:pic>
        <p:nvPicPr>
          <p:cNvPr id="141" name="Google Shape;237;p31" descr=""/>
          <p:cNvPicPr/>
          <p:nvPr/>
        </p:nvPicPr>
        <p:blipFill>
          <a:blip r:embed="rId5"/>
          <a:srcRect l="24628" t="10980" r="63133" b="66820"/>
          <a:stretch/>
        </p:blipFill>
        <p:spPr>
          <a:xfrm>
            <a:off x="7374960" y="1110960"/>
            <a:ext cx="905040" cy="98712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238;p31"/>
          <p:cNvSpPr/>
          <p:nvPr/>
        </p:nvSpPr>
        <p:spPr>
          <a:xfrm>
            <a:off x="802800" y="3710520"/>
            <a:ext cx="2082960" cy="208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Google Shape;239;p31" descr=""/>
          <p:cNvPicPr/>
          <p:nvPr/>
        </p:nvPicPr>
        <p:blipFill>
          <a:blip r:embed="rId6"/>
          <a:srcRect l="22301" t="8210" r="31877" b="35185"/>
          <a:stretch/>
        </p:blipFill>
        <p:spPr>
          <a:xfrm>
            <a:off x="5969160" y="1150920"/>
            <a:ext cx="699120" cy="747360"/>
          </a:xfrm>
          <a:prstGeom prst="rect">
            <a:avLst/>
          </a:prstGeom>
          <a:ln w="0">
            <a:noFill/>
          </a:ln>
        </p:spPr>
      </p:pic>
      <p:sp>
        <p:nvSpPr>
          <p:cNvPr id="144" name=""/>
          <p:cNvSpPr/>
          <p:nvPr/>
        </p:nvSpPr>
        <p:spPr>
          <a:xfrm>
            <a:off x="540000" y="793440"/>
            <a:ext cx="2159640" cy="40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User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Text Input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Voice Input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Image Input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Food Understanding Layer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Nutrition Mapping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Meal Log Storage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Monthly Dietary Analysis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LLM Insights &amp; Recommendations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231;p 2" descr=""/>
          <p:cNvPicPr/>
          <p:nvPr/>
        </p:nvPicPr>
        <p:blipFill>
          <a:blip r:embed="rId1"/>
          <a:stretch/>
        </p:blipFill>
        <p:spPr>
          <a:xfrm>
            <a:off x="3938040" y="2206800"/>
            <a:ext cx="5244480" cy="2867400"/>
          </a:xfrm>
          <a:prstGeom prst="rect">
            <a:avLst/>
          </a:prstGeom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1720" y="0"/>
            <a:ext cx="5497920" cy="61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Architecture Diagram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Google Shape;234;p 2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4730760" y="1000440"/>
            <a:ext cx="443520" cy="52920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235;p 2" descr=""/>
          <p:cNvPicPr/>
          <p:nvPr/>
        </p:nvPicPr>
        <p:blipFill>
          <a:blip r:embed="rId3"/>
          <a:srcRect l="72465" t="10630" r="22254" b="80556"/>
          <a:stretch/>
        </p:blipFill>
        <p:spPr>
          <a:xfrm>
            <a:off x="4339440" y="4223880"/>
            <a:ext cx="390240" cy="39132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236;p 2" descr=""/>
          <p:cNvPicPr/>
          <p:nvPr/>
        </p:nvPicPr>
        <p:blipFill>
          <a:blip r:embed="rId4"/>
          <a:srcRect l="72465" t="10630" r="22254" b="80556"/>
          <a:stretch/>
        </p:blipFill>
        <p:spPr>
          <a:xfrm>
            <a:off x="8661600" y="2071800"/>
            <a:ext cx="390240" cy="391320"/>
          </a:xfrm>
          <a:prstGeom prst="rect">
            <a:avLst/>
          </a:prstGeom>
          <a:ln w="0">
            <a:noFill/>
          </a:ln>
        </p:spPr>
      </p:pic>
      <p:pic>
        <p:nvPicPr>
          <p:cNvPr id="150" name="Google Shape;237;p 2" descr=""/>
          <p:cNvPicPr/>
          <p:nvPr/>
        </p:nvPicPr>
        <p:blipFill>
          <a:blip r:embed="rId5"/>
          <a:srcRect l="24628" t="10980" r="63133" b="66820"/>
          <a:stretch/>
        </p:blipFill>
        <p:spPr>
          <a:xfrm>
            <a:off x="7374960" y="1110960"/>
            <a:ext cx="905040" cy="987120"/>
          </a:xfrm>
          <a:prstGeom prst="rect">
            <a:avLst/>
          </a:prstGeom>
          <a:ln w="0">
            <a:noFill/>
          </a:ln>
        </p:spPr>
      </p:pic>
      <p:sp>
        <p:nvSpPr>
          <p:cNvPr id="151" name="Google Shape;238;p 2"/>
          <p:cNvSpPr/>
          <p:nvPr/>
        </p:nvSpPr>
        <p:spPr>
          <a:xfrm>
            <a:off x="802800" y="3710520"/>
            <a:ext cx="2082960" cy="208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Google Shape;239;p 2" descr=""/>
          <p:cNvPicPr/>
          <p:nvPr/>
        </p:nvPicPr>
        <p:blipFill>
          <a:blip r:embed="rId6"/>
          <a:srcRect l="22301" t="8210" r="31877" b="35185"/>
          <a:stretch/>
        </p:blipFill>
        <p:spPr>
          <a:xfrm>
            <a:off x="5969160" y="1150920"/>
            <a:ext cx="699120" cy="747360"/>
          </a:xfrm>
          <a:prstGeom prst="rect">
            <a:avLst/>
          </a:prstGeom>
          <a:ln w="0">
            <a:noFill/>
          </a:ln>
        </p:spPr>
      </p:pic>
      <p:sp>
        <p:nvSpPr>
          <p:cNvPr id="153" name=""/>
          <p:cNvSpPr/>
          <p:nvPr/>
        </p:nvSpPr>
        <p:spPr>
          <a:xfrm>
            <a:off x="1080000" y="72000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User Profile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40000" y="1260000"/>
            <a:ext cx="71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Text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620000" y="1260000"/>
            <a:ext cx="71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Voice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2700000" y="1260000"/>
            <a:ext cx="71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Image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080000" y="234000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Nutrient Mapping Engine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(FoodData Central)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080000" y="288000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Meal Log Database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1080000" y="180036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Meal Extraction Layer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080000" y="342000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Monthly consolidation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080360" y="288036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Meal Log Database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080000" y="396000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LLM Analysis Engine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080360" y="342036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Monthly consolidation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080000" y="4500000"/>
            <a:ext cx="1979640" cy="359640"/>
          </a:xfrm>
          <a:prstGeom prst="flowChartProcess">
            <a:avLst/>
          </a:prstGeom>
          <a:solidFill>
            <a:srgbClr val="afd095"/>
          </a:solidFill>
          <a:ln cap="rnd" w="0">
            <a:solidFill>
              <a:srgbClr val="1e6a3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Insights and Recommendation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Multimodal Input System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ubTitle"/>
          </p:nvPr>
        </p:nvSpPr>
        <p:spPr>
          <a:xfrm>
            <a:off x="880560" y="1654200"/>
            <a:ext cx="22852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Livvic"/>
                <a:ea typeface="Livvic"/>
              </a:rPr>
              <a:t>Text Input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ubTitle"/>
          </p:nvPr>
        </p:nvSpPr>
        <p:spPr>
          <a:xfrm>
            <a:off x="3427200" y="1654200"/>
            <a:ext cx="22852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Livvic"/>
                <a:ea typeface="Livvic"/>
              </a:rPr>
              <a:t>Voice Input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ubTitle"/>
          </p:nvPr>
        </p:nvSpPr>
        <p:spPr>
          <a:xfrm>
            <a:off x="880560" y="2299680"/>
            <a:ext cx="2288880" cy="17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NLP-based meal extraction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Quantity identification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Food normalization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subTitle"/>
          </p:nvPr>
        </p:nvSpPr>
        <p:spPr>
          <a:xfrm>
            <a:off x="3429000" y="2299680"/>
            <a:ext cx="2285280" cy="17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Whisper transcription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Converted to text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Processed through same NLP pipeline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ubTitle"/>
          </p:nvPr>
        </p:nvSpPr>
        <p:spPr>
          <a:xfrm>
            <a:off x="5973840" y="2299680"/>
            <a:ext cx="2288880" cy="17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Primary: prithivMLmods/Indian-Western-Food-34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Backup: microsoft/swin-tiny-patch4-window7-224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Supports: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Camera capture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lbert Sans"/>
                <a:ea typeface="Albert Sans"/>
              </a:rPr>
              <a:t>File upload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40"/>
              </a:spcBef>
              <a:buNone/>
              <a:tabLst>
                <a:tab algn="l" pos="0"/>
              </a:tabLst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 type="subTitle"/>
          </p:nvPr>
        </p:nvSpPr>
        <p:spPr>
          <a:xfrm>
            <a:off x="5973840" y="1654200"/>
            <a:ext cx="22888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Livvic"/>
                <a:ea typeface="Livvic"/>
              </a:rPr>
              <a:t>Image Input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Google Shape;274;p 1" descr=""/>
          <p:cNvPicPr/>
          <p:nvPr/>
        </p:nvPicPr>
        <p:blipFill>
          <a:blip r:embed="rId1"/>
          <a:stretch/>
        </p:blipFill>
        <p:spPr>
          <a:xfrm>
            <a:off x="7698600" y="4065840"/>
            <a:ext cx="1624320" cy="1190160"/>
          </a:xfrm>
          <a:prstGeom prst="rect">
            <a:avLst/>
          </a:prstGeom>
          <a:ln w="0">
            <a:noFill/>
          </a:ln>
        </p:spPr>
      </p:pic>
      <p:pic>
        <p:nvPicPr>
          <p:cNvPr id="173" name="Google Shape;275;p 1" descr=""/>
          <p:cNvPicPr/>
          <p:nvPr/>
        </p:nvPicPr>
        <p:blipFill>
          <a:blip r:embed="rId2"/>
          <a:srcRect l="24628" t="10980" r="63133" b="66820"/>
          <a:stretch/>
        </p:blipFill>
        <p:spPr>
          <a:xfrm>
            <a:off x="387720" y="4100040"/>
            <a:ext cx="705600" cy="76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209;p 1" descr=""/>
          <p:cNvPicPr/>
          <p:nvPr/>
        </p:nvPicPr>
        <p:blipFill>
          <a:blip r:embed="rId1"/>
          <a:stretch/>
        </p:blipFill>
        <p:spPr>
          <a:xfrm>
            <a:off x="6384600" y="3031920"/>
            <a:ext cx="3463200" cy="2446560"/>
          </a:xfrm>
          <a:prstGeom prst="rect">
            <a:avLst/>
          </a:prstGeom>
          <a:ln w="0">
            <a:noFill/>
          </a:ln>
        </p:spPr>
      </p:pic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Nutritional Intelligence Layer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23;p 1"/>
          <p:cNvSpPr/>
          <p:nvPr/>
        </p:nvSpPr>
        <p:spPr>
          <a:xfrm>
            <a:off x="7432920" y="-49356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Google Shape;224;p 1" descr=""/>
          <p:cNvPicPr/>
          <p:nvPr/>
        </p:nvPicPr>
        <p:blipFill>
          <a:blip r:embed="rId2"/>
          <a:srcRect l="72465" t="10630" r="22254" b="80556"/>
          <a:stretch/>
        </p:blipFill>
        <p:spPr>
          <a:xfrm>
            <a:off x="8516520" y="2385000"/>
            <a:ext cx="371880" cy="372960"/>
          </a:xfrm>
          <a:prstGeom prst="rect">
            <a:avLst/>
          </a:prstGeom>
          <a:ln w="0">
            <a:noFill/>
          </a:ln>
        </p:spPr>
      </p:pic>
      <p:pic>
        <p:nvPicPr>
          <p:cNvPr id="178" name="Google Shape;225;p 1" descr=""/>
          <p:cNvPicPr/>
          <p:nvPr/>
        </p:nvPicPr>
        <p:blipFill>
          <a:blip r:embed="rId3"/>
          <a:srcRect l="22301" t="8210" r="31877" b="35185"/>
          <a:stretch/>
        </p:blipFill>
        <p:spPr>
          <a:xfrm>
            <a:off x="7943760" y="2616120"/>
            <a:ext cx="572040" cy="611640"/>
          </a:xfrm>
          <a:prstGeom prst="rect">
            <a:avLst/>
          </a:prstGeom>
          <a:ln w="0">
            <a:noFill/>
          </a:ln>
        </p:spPr>
      </p:pic>
      <p:pic>
        <p:nvPicPr>
          <p:cNvPr id="179" name="Google Shape;226;p 1" descr=""/>
          <p:cNvPicPr/>
          <p:nvPr/>
        </p:nvPicPr>
        <p:blipFill>
          <a:blip r:embed="rId4"/>
          <a:srcRect l="23320" t="13891" r="27341" b="23205"/>
          <a:stretch/>
        </p:blipFill>
        <p:spPr>
          <a:xfrm>
            <a:off x="717120" y="4394160"/>
            <a:ext cx="584640" cy="621360"/>
          </a:xfrm>
          <a:prstGeom prst="rect">
            <a:avLst/>
          </a:prstGeom>
          <a:ln w="0">
            <a:noFill/>
          </a:ln>
        </p:spPr>
      </p:pic>
      <p:sp>
        <p:nvSpPr>
          <p:cNvPr id="180" name=""/>
          <p:cNvSpPr/>
          <p:nvPr/>
        </p:nvSpPr>
        <p:spPr>
          <a:xfrm>
            <a:off x="1080000" y="1260000"/>
            <a:ext cx="28796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</a:rPr>
              <a:t>FoodData Central Integration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For each detected meal: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080000" y="1800000"/>
            <a:ext cx="2339640" cy="2159640"/>
          </a:xfrm>
          <a:prstGeom prst="rect">
            <a:avLst/>
          </a:prstGeom>
          <a:solidFill>
            <a:srgbClr val="dde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Food Item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Calories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Protein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Carbohydrates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Fat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67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Micronutrients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4140000" y="1980000"/>
            <a:ext cx="2879640" cy="16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</a:rPr>
              <a:t>Benifits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Configurable nutrient selection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Standardized nutritional database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000" spc="-1" strike="noStrike">
                <a:solidFill>
                  <a:srgbClr val="000000"/>
                </a:solidFill>
                <a:latin typeface="Arial"/>
              </a:rPr>
              <a:t>Supports dietary trend analysis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ubTitle"/>
          </p:nvPr>
        </p:nvSpPr>
        <p:spPr>
          <a:xfrm>
            <a:off x="4500000" y="1539360"/>
            <a:ext cx="3899520" cy="1340280"/>
          </a:xfrm>
          <a:prstGeom prst="rect">
            <a:avLst/>
          </a:prstGeom>
          <a:solidFill>
            <a:schemeClr val="dk2">
              <a:alpha val="27000"/>
            </a:schemeClr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algn="r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Albert Sans"/>
                <a:ea typeface="Albert Sans"/>
              </a:rPr>
              <a:t>Daily meal logging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Albert Sans"/>
                <a:ea typeface="Albert Sans"/>
              </a:rPr>
              <a:t>Time-based meal categorization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Albert Sans"/>
                <a:ea typeface="Albert Sans"/>
              </a:rPr>
              <a:t>Historical meal storage 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" sz="1600" spc="-1" strike="noStrike">
                <a:solidFill>
                  <a:schemeClr val="dk1"/>
                </a:solidFill>
                <a:latin typeface="Albert Sans"/>
                <a:ea typeface="Albert Sans"/>
              </a:rPr>
              <a:t>Monthly dietary records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title"/>
          </p:nvPr>
        </p:nvSpPr>
        <p:spPr>
          <a:xfrm>
            <a:off x="3061800" y="-62280"/>
            <a:ext cx="657540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Meal Logging &amp; History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Google Shape;329;p38" descr=""/>
          <p:cNvPicPr/>
          <p:nvPr/>
        </p:nvPicPr>
        <p:blipFill>
          <a:blip r:embed="rId1"/>
          <a:stretch/>
        </p:blipFill>
        <p:spPr>
          <a:xfrm>
            <a:off x="5834160" y="3073320"/>
            <a:ext cx="3519720" cy="2340720"/>
          </a:xfrm>
          <a:prstGeom prst="rect">
            <a:avLst/>
          </a:prstGeom>
          <a:ln w="0">
            <a:noFill/>
          </a:ln>
        </p:spPr>
      </p:pic>
      <p:pic>
        <p:nvPicPr>
          <p:cNvPr id="186" name="Google Shape;330;p38" descr=""/>
          <p:cNvPicPr/>
          <p:nvPr/>
        </p:nvPicPr>
        <p:blipFill>
          <a:blip r:embed="rId2"/>
          <a:stretch/>
        </p:blipFill>
        <p:spPr>
          <a:xfrm>
            <a:off x="-165960" y="-167760"/>
            <a:ext cx="3227400" cy="2279880"/>
          </a:xfrm>
          <a:prstGeom prst="rect">
            <a:avLst/>
          </a:prstGeom>
          <a:ln w="0">
            <a:noFill/>
          </a:ln>
        </p:spPr>
      </p:pic>
      <p:sp>
        <p:nvSpPr>
          <p:cNvPr id="187" name=""/>
          <p:cNvSpPr/>
          <p:nvPr/>
        </p:nvSpPr>
        <p:spPr>
          <a:xfrm>
            <a:off x="6300000" y="1080000"/>
            <a:ext cx="21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Features: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209;p 2" descr=""/>
          <p:cNvPicPr/>
          <p:nvPr/>
        </p:nvPicPr>
        <p:blipFill>
          <a:blip r:embed="rId1"/>
          <a:stretch/>
        </p:blipFill>
        <p:spPr>
          <a:xfrm>
            <a:off x="6384600" y="3031920"/>
            <a:ext cx="3463200" cy="2446560"/>
          </a:xfrm>
          <a:prstGeom prst="rect">
            <a:avLst/>
          </a:prstGeom>
          <a:ln w="0">
            <a:noFill/>
          </a:ln>
        </p:spPr>
      </p:pic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Dietary Pattern Analysis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23;p 2"/>
          <p:cNvSpPr/>
          <p:nvPr/>
        </p:nvSpPr>
        <p:spPr>
          <a:xfrm>
            <a:off x="7432920" y="-49356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Google Shape;224;p 2" descr=""/>
          <p:cNvPicPr/>
          <p:nvPr/>
        </p:nvPicPr>
        <p:blipFill>
          <a:blip r:embed="rId2"/>
          <a:srcRect l="72465" t="10630" r="22254" b="80556"/>
          <a:stretch/>
        </p:blipFill>
        <p:spPr>
          <a:xfrm>
            <a:off x="8516520" y="2385000"/>
            <a:ext cx="371880" cy="372960"/>
          </a:xfrm>
          <a:prstGeom prst="rect">
            <a:avLst/>
          </a:prstGeom>
          <a:ln w="0">
            <a:noFill/>
          </a:ln>
        </p:spPr>
      </p:pic>
      <p:pic>
        <p:nvPicPr>
          <p:cNvPr id="192" name="Google Shape;225;p 2" descr=""/>
          <p:cNvPicPr/>
          <p:nvPr/>
        </p:nvPicPr>
        <p:blipFill>
          <a:blip r:embed="rId3"/>
          <a:srcRect l="22301" t="8210" r="31877" b="35185"/>
          <a:stretch/>
        </p:blipFill>
        <p:spPr>
          <a:xfrm>
            <a:off x="7943760" y="2616120"/>
            <a:ext cx="572040" cy="611640"/>
          </a:xfrm>
          <a:prstGeom prst="rect">
            <a:avLst/>
          </a:prstGeom>
          <a:ln w="0">
            <a:noFill/>
          </a:ln>
        </p:spPr>
      </p:pic>
      <p:pic>
        <p:nvPicPr>
          <p:cNvPr id="193" name="Google Shape;226;p 2" descr=""/>
          <p:cNvPicPr/>
          <p:nvPr/>
        </p:nvPicPr>
        <p:blipFill>
          <a:blip r:embed="rId4"/>
          <a:srcRect l="23320" t="13891" r="27341" b="23205"/>
          <a:stretch/>
        </p:blipFill>
        <p:spPr>
          <a:xfrm>
            <a:off x="717120" y="4394160"/>
            <a:ext cx="584640" cy="62136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/>
          <p:nvPr/>
        </p:nvSpPr>
        <p:spPr>
          <a:xfrm>
            <a:off x="720000" y="1260000"/>
            <a:ext cx="2339640" cy="24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000" spc="-1" strike="noStrike">
                <a:solidFill>
                  <a:srgbClr val="000000"/>
                </a:solidFill>
                <a:latin typeface="Arial"/>
              </a:rPr>
              <a:t>Monthly Consolidation Engine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</a:rPr>
              <a:t>Analyzes: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Calorie trends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Protein intake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Meal consistency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Nutritional deficiencies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Dietary habits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420000" y="1260000"/>
            <a:ext cx="2339640" cy="24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000" spc="-1" strike="noStrike">
                <a:solidFill>
                  <a:srgbClr val="000000"/>
                </a:solidFill>
                <a:latin typeface="Arial"/>
              </a:rPr>
              <a:t>RAG-Based Context Retrieval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</a:rPr>
              <a:t>Retrieves</a:t>
            </a:r>
            <a:r>
              <a:rPr b="1" lang="en-IN" sz="10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Historical meal patterns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Relevant nutrient summaries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User profile information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209;p 3" descr=""/>
          <p:cNvPicPr/>
          <p:nvPr/>
        </p:nvPicPr>
        <p:blipFill>
          <a:blip r:embed="rId1"/>
          <a:stretch/>
        </p:blipFill>
        <p:spPr>
          <a:xfrm>
            <a:off x="6384600" y="3031920"/>
            <a:ext cx="3463200" cy="2446560"/>
          </a:xfrm>
          <a:prstGeom prst="rect">
            <a:avLst/>
          </a:prstGeom>
          <a:ln w="0">
            <a:noFill/>
          </a:ln>
        </p:spPr>
      </p:pic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Recommendation Engine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223;p 3"/>
          <p:cNvSpPr/>
          <p:nvPr/>
        </p:nvSpPr>
        <p:spPr>
          <a:xfrm>
            <a:off x="7432920" y="-49356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Google Shape;224;p 3" descr=""/>
          <p:cNvPicPr/>
          <p:nvPr/>
        </p:nvPicPr>
        <p:blipFill>
          <a:blip r:embed="rId2"/>
          <a:srcRect l="72465" t="10630" r="22254" b="80556"/>
          <a:stretch/>
        </p:blipFill>
        <p:spPr>
          <a:xfrm>
            <a:off x="8516520" y="2385000"/>
            <a:ext cx="371880" cy="372960"/>
          </a:xfrm>
          <a:prstGeom prst="rect">
            <a:avLst/>
          </a:prstGeom>
          <a:ln w="0">
            <a:noFill/>
          </a:ln>
        </p:spPr>
      </p:pic>
      <p:pic>
        <p:nvPicPr>
          <p:cNvPr id="200" name="Google Shape;225;p 3" descr=""/>
          <p:cNvPicPr/>
          <p:nvPr/>
        </p:nvPicPr>
        <p:blipFill>
          <a:blip r:embed="rId3"/>
          <a:srcRect l="22301" t="8210" r="31877" b="35185"/>
          <a:stretch/>
        </p:blipFill>
        <p:spPr>
          <a:xfrm>
            <a:off x="7943760" y="2616120"/>
            <a:ext cx="572040" cy="611640"/>
          </a:xfrm>
          <a:prstGeom prst="rect">
            <a:avLst/>
          </a:prstGeom>
          <a:ln w="0">
            <a:noFill/>
          </a:ln>
        </p:spPr>
      </p:pic>
      <p:pic>
        <p:nvPicPr>
          <p:cNvPr id="201" name="Google Shape;226;p 3" descr=""/>
          <p:cNvPicPr/>
          <p:nvPr/>
        </p:nvPicPr>
        <p:blipFill>
          <a:blip r:embed="rId4"/>
          <a:srcRect l="23320" t="13891" r="27341" b="23205"/>
          <a:stretch/>
        </p:blipFill>
        <p:spPr>
          <a:xfrm>
            <a:off x="717120" y="4394160"/>
            <a:ext cx="584640" cy="621360"/>
          </a:xfrm>
          <a:prstGeom prst="rect">
            <a:avLst/>
          </a:prstGeom>
          <a:ln w="0">
            <a:noFill/>
          </a:ln>
        </p:spPr>
      </p:pic>
      <p:sp>
        <p:nvSpPr>
          <p:cNvPr id="202" name=""/>
          <p:cNvSpPr/>
          <p:nvPr/>
        </p:nvSpPr>
        <p:spPr>
          <a:xfrm>
            <a:off x="2160360" y="1440000"/>
            <a:ext cx="899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</a:rPr>
              <a:t>Input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4140000" y="1800000"/>
            <a:ext cx="2339640" cy="2159640"/>
          </a:xfrm>
          <a:prstGeom prst="rect">
            <a:avLst/>
          </a:prstGeom>
          <a:solidFill>
            <a:srgbClr val="dde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Aft>
                <a:spcPts val="850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Food Item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850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 ↓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850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Calories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850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Protein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850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Carbohydrates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850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Fat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850"/>
              </a:spcAf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Micronutrients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440000" y="1800000"/>
            <a:ext cx="2339640" cy="2160000"/>
          </a:xfrm>
          <a:prstGeom prst="rect">
            <a:avLst/>
          </a:prstGeom>
          <a:solidFill>
            <a:srgbClr val="dde8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User profile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Health information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Meal history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Nutritional trends 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RAG context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4860360" y="1440000"/>
            <a:ext cx="899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</a:rPr>
              <a:t>Output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Results Obtained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7" name="Google Shape;200;p29"/>
          <p:cNvGraphicFramePr/>
          <p:nvPr/>
        </p:nvGraphicFramePr>
        <p:xfrm>
          <a:off x="1620000" y="2016000"/>
          <a:ext cx="5632200" cy="1083960"/>
        </p:xfrm>
        <a:graphic>
          <a:graphicData uri="http://schemas.openxmlformats.org/drawingml/2006/table">
            <a:tbl>
              <a:tblPr/>
              <a:tblGrid>
                <a:gridCol w="2280600"/>
                <a:gridCol w="3351960"/>
              </a:tblGrid>
              <a:tr h="36144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</a:rPr>
                        <a:t>Text Input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chemeClr val="dk1"/>
                          </a:solidFill>
                          <a:latin typeface="Albert Sans"/>
                          <a:ea typeface="Albert Sans"/>
                        </a:rPr>
                        <a:t>Meal extraction successful</a:t>
                      </a:r>
                      <a:endParaRPr b="0" lang="en-IN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noFill/>
                  </a:tcPr>
                </a:tc>
              </a:tr>
              <a:tr h="36144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</a:rPr>
                        <a:t>Voice Input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chemeClr val="dk1"/>
                          </a:solidFill>
                          <a:latin typeface="Albert Sans"/>
                          <a:ea typeface="Albert Sans"/>
                        </a:rPr>
                        <a:t>Whisper transcription integrated</a:t>
                      </a:r>
                      <a:endParaRPr b="0" lang="en-IN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noFill/>
                  </a:tcPr>
                </a:tc>
              </a:tr>
              <a:tr h="36144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1" lang="en" sz="1000" spc="-1" strike="noStrike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</a:rPr>
                        <a:t>Image Input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" sz="900" spc="-1" strike="noStrike">
                          <a:solidFill>
                            <a:schemeClr val="dk1"/>
                          </a:solidFill>
                          <a:latin typeface="Albert Sans"/>
                          <a:ea typeface="Albert Sans"/>
                        </a:rPr>
                        <a:t>Food classification working</a:t>
                      </a:r>
                      <a:endParaRPr b="0" lang="en-IN" sz="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noFill/>
                  </a:tcPr>
                </a:tc>
              </a:tr>
              <a:tr h="361440">
                <a:tc>
                  <a:txBody>
                    <a:bodyPr lIns="91080" rIns="91080" anchor="ctr">
                      <a:noAutofit/>
                    </a:bodyPr>
                    <a:p>
                      <a:r>
                        <a:rPr b="1" lang="en" sz="1000" spc="-1" strike="noStrike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</a:rPr>
                        <a:t>Nutrition Mapping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r>
                        <a:rPr b="0" lang="en" sz="1000" spc="-1" strike="noStrike">
                          <a:solidFill>
                            <a:schemeClr val="dk1"/>
                          </a:solidFill>
                          <a:latin typeface="Albert Sans"/>
                          <a:ea typeface="Albert Sans"/>
                        </a:rPr>
                        <a:t>FoodData Central integration working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noFill/>
                  </a:tcPr>
                </a:tc>
              </a:tr>
              <a:tr h="361440">
                <a:tc>
                  <a:txBody>
                    <a:bodyPr lIns="91080" rIns="91080" anchor="ctr">
                      <a:noAutofit/>
                    </a:bodyPr>
                    <a:p>
                      <a:r>
                        <a:rPr b="1" lang="en" sz="1000" spc="-1" strike="noStrike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</a:rPr>
                        <a:t>Meal Logging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r>
                        <a:rPr b="0" lang="en" sz="1000" spc="-1" strike="noStrike">
                          <a:solidFill>
                            <a:schemeClr val="dk1"/>
                          </a:solidFill>
                          <a:latin typeface="Albert Sans"/>
                          <a:ea typeface="Albert Sans"/>
                        </a:rPr>
                        <a:t>End-to-end pipeline operational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noFill/>
                  </a:tcPr>
                </a:tc>
              </a:tr>
              <a:tr h="361440">
                <a:tc>
                  <a:txBody>
                    <a:bodyPr lIns="91080" rIns="91080" anchor="ctr">
                      <a:noAutofit/>
                    </a:bodyPr>
                    <a:p>
                      <a:r>
                        <a:rPr b="1" lang="en" sz="1000" spc="-1" strike="noStrike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</a:rPr>
                        <a:t>LLM Insights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r>
                        <a:rPr b="0" lang="en" sz="1000" spc="-1" strike="noStrike">
                          <a:solidFill>
                            <a:schemeClr val="dk1"/>
                          </a:solidFill>
                          <a:latin typeface="Albert Sans"/>
                          <a:ea typeface="Albert Sans"/>
                        </a:rPr>
                        <a:t>Monthly recommendation generation operational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302543"/>
                      </a:solidFill>
                      <a:prstDash val="solid"/>
                    </a:lnL>
                    <a:lnR w="9360">
                      <a:solidFill>
                        <a:srgbClr val="302543"/>
                      </a:solidFill>
                      <a:prstDash val="solid"/>
                    </a:lnR>
                    <a:lnT w="9360">
                      <a:solidFill>
                        <a:srgbClr val="302543"/>
                      </a:solidFill>
                      <a:prstDash val="solid"/>
                    </a:lnT>
                    <a:lnB w="9360">
                      <a:solidFill>
                        <a:srgbClr val="30254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08" name="Google Shape;203;p29" descr=""/>
          <p:cNvPicPr/>
          <p:nvPr/>
        </p:nvPicPr>
        <p:blipFill>
          <a:blip r:embed="rId1"/>
          <a:stretch/>
        </p:blipFill>
        <p:spPr>
          <a:xfrm>
            <a:off x="5940000" y="1026000"/>
            <a:ext cx="1413000" cy="1035000"/>
          </a:xfrm>
          <a:prstGeom prst="rect">
            <a:avLst/>
          </a:prstGeom>
          <a:ln w="0">
            <a:noFill/>
          </a:ln>
        </p:spPr>
      </p:pic>
      <p:pic>
        <p:nvPicPr>
          <p:cNvPr id="209" name="Google Shape;204;p29" descr=""/>
          <p:cNvPicPr/>
          <p:nvPr/>
        </p:nvPicPr>
        <p:blipFill>
          <a:blip r:embed="rId2"/>
          <a:srcRect l="24628" t="10980" r="63133" b="66820"/>
          <a:stretch/>
        </p:blipFill>
        <p:spPr>
          <a:xfrm>
            <a:off x="178200" y="4223160"/>
            <a:ext cx="705600" cy="76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References 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864360" y="1080000"/>
            <a:ext cx="6155640" cy="30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USDA FoodData Central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Food-101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  <a:hlinkClick r:id="rId1"/>
              </a:rPr>
              <a:t>Whisper Documentation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  <a:hlinkClick r:id="rId2"/>
              </a:rPr>
              <a:t>Transformers Library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  <a:hlinkClick r:id="rId3"/>
              </a:rPr>
              <a:t>PrithivML Indian-Western-Food-34 Model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  <a:hlinkClick r:id="rId4"/>
              </a:rPr>
              <a:t>Microsoft Swin Transformer Model</a:t>
            </a: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RAG (Retrieval-Augmented Generation) literature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Recent dietary recommendation and nutrition intelligence papers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Google Shape;259;p33" descr=""/>
          <p:cNvPicPr/>
          <p:nvPr/>
        </p:nvPicPr>
        <p:blipFill>
          <a:blip r:embed="rId5"/>
          <a:stretch/>
        </p:blipFill>
        <p:spPr>
          <a:xfrm>
            <a:off x="6182280" y="3528000"/>
            <a:ext cx="3275640" cy="2298240"/>
          </a:xfrm>
          <a:prstGeom prst="rect">
            <a:avLst/>
          </a:prstGeom>
          <a:ln w="0">
            <a:noFill/>
          </a:ln>
        </p:spPr>
      </p:pic>
      <p:sp>
        <p:nvSpPr>
          <p:cNvPr id="213" name="Google Shape;260;p33"/>
          <p:cNvSpPr/>
          <p:nvPr/>
        </p:nvSpPr>
        <p:spPr>
          <a:xfrm>
            <a:off x="7516080" y="-624240"/>
            <a:ext cx="2175480" cy="217548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4" name="Google Shape;261;p33" descr=""/>
          <p:cNvPicPr/>
          <p:nvPr/>
        </p:nvPicPr>
        <p:blipFill>
          <a:blip r:embed="rId6"/>
          <a:srcRect l="22301" t="8210" r="31877" b="35185"/>
          <a:stretch/>
        </p:blipFill>
        <p:spPr>
          <a:xfrm>
            <a:off x="8106480" y="977040"/>
            <a:ext cx="659880" cy="705600"/>
          </a:xfrm>
          <a:prstGeom prst="rect">
            <a:avLst/>
          </a:prstGeom>
          <a:ln w="0">
            <a:noFill/>
          </a:ln>
        </p:spPr>
      </p:pic>
      <p:pic>
        <p:nvPicPr>
          <p:cNvPr id="215" name="Google Shape;262;p33" descr=""/>
          <p:cNvPicPr/>
          <p:nvPr/>
        </p:nvPicPr>
        <p:blipFill>
          <a:blip r:embed="rId7"/>
          <a:srcRect l="23320" t="13891" r="27341" b="23205"/>
          <a:stretch/>
        </p:blipFill>
        <p:spPr>
          <a:xfrm>
            <a:off x="910080" y="4140360"/>
            <a:ext cx="671760" cy="71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31;p 1" descr=""/>
          <p:cNvPicPr/>
          <p:nvPr/>
        </p:nvPicPr>
        <p:blipFill>
          <a:blip r:embed="rId1"/>
          <a:stretch/>
        </p:blipFill>
        <p:spPr>
          <a:xfrm>
            <a:off x="3938040" y="2206800"/>
            <a:ext cx="5244480" cy="2867400"/>
          </a:xfrm>
          <a:prstGeom prst="rect">
            <a:avLst/>
          </a:prstGeom>
          <a:ln w="0">
            <a:noFill/>
          </a:ln>
        </p:spPr>
      </p:pic>
      <p:pic>
        <p:nvPicPr>
          <p:cNvPr id="217" name="Google Shape;234;p 1" descr=""/>
          <p:cNvPicPr/>
          <p:nvPr/>
        </p:nvPicPr>
        <p:blipFill>
          <a:blip r:embed="rId2"/>
          <a:srcRect l="18381" t="13178" r="75621" b="74913"/>
          <a:stretch/>
        </p:blipFill>
        <p:spPr>
          <a:xfrm>
            <a:off x="4730760" y="1000440"/>
            <a:ext cx="443520" cy="529200"/>
          </a:xfrm>
          <a:prstGeom prst="rect">
            <a:avLst/>
          </a:prstGeom>
          <a:ln w="0">
            <a:noFill/>
          </a:ln>
        </p:spPr>
      </p:pic>
      <p:pic>
        <p:nvPicPr>
          <p:cNvPr id="218" name="Google Shape;235;p 1" descr=""/>
          <p:cNvPicPr/>
          <p:nvPr/>
        </p:nvPicPr>
        <p:blipFill>
          <a:blip r:embed="rId3"/>
          <a:srcRect l="72465" t="10630" r="22254" b="80556"/>
          <a:stretch/>
        </p:blipFill>
        <p:spPr>
          <a:xfrm>
            <a:off x="4339440" y="4223880"/>
            <a:ext cx="390240" cy="391320"/>
          </a:xfrm>
          <a:prstGeom prst="rect">
            <a:avLst/>
          </a:prstGeom>
          <a:ln w="0">
            <a:noFill/>
          </a:ln>
        </p:spPr>
      </p:pic>
      <p:pic>
        <p:nvPicPr>
          <p:cNvPr id="219" name="Google Shape;236;p 1" descr=""/>
          <p:cNvPicPr/>
          <p:nvPr/>
        </p:nvPicPr>
        <p:blipFill>
          <a:blip r:embed="rId4"/>
          <a:srcRect l="72465" t="10630" r="22254" b="80556"/>
          <a:stretch/>
        </p:blipFill>
        <p:spPr>
          <a:xfrm>
            <a:off x="8661600" y="2071800"/>
            <a:ext cx="390240" cy="391320"/>
          </a:xfrm>
          <a:prstGeom prst="rect">
            <a:avLst/>
          </a:prstGeom>
          <a:ln w="0">
            <a:noFill/>
          </a:ln>
        </p:spPr>
      </p:pic>
      <p:pic>
        <p:nvPicPr>
          <p:cNvPr id="220" name="Google Shape;237;p 1" descr=""/>
          <p:cNvPicPr/>
          <p:nvPr/>
        </p:nvPicPr>
        <p:blipFill>
          <a:blip r:embed="rId5"/>
          <a:srcRect l="24628" t="10980" r="63133" b="66820"/>
          <a:stretch/>
        </p:blipFill>
        <p:spPr>
          <a:xfrm>
            <a:off x="7374960" y="1110960"/>
            <a:ext cx="905040" cy="987120"/>
          </a:xfrm>
          <a:prstGeom prst="rect">
            <a:avLst/>
          </a:prstGeom>
          <a:ln w="0">
            <a:noFill/>
          </a:ln>
        </p:spPr>
      </p:pic>
      <p:sp>
        <p:nvSpPr>
          <p:cNvPr id="221" name="Google Shape;238;p 1"/>
          <p:cNvSpPr/>
          <p:nvPr/>
        </p:nvSpPr>
        <p:spPr>
          <a:xfrm>
            <a:off x="802800" y="3710520"/>
            <a:ext cx="2082960" cy="208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Google Shape;239;p 1" descr=""/>
          <p:cNvPicPr/>
          <p:nvPr/>
        </p:nvPicPr>
        <p:blipFill>
          <a:blip r:embed="rId6"/>
          <a:srcRect l="22301" t="8210" r="31877" b="35185"/>
          <a:stretch/>
        </p:blipFill>
        <p:spPr>
          <a:xfrm>
            <a:off x="5969160" y="1150920"/>
            <a:ext cx="699120" cy="747360"/>
          </a:xfrm>
          <a:prstGeom prst="rect">
            <a:avLst/>
          </a:prstGeom>
          <a:ln w="0">
            <a:noFill/>
          </a:ln>
        </p:spPr>
      </p:pic>
      <p:sp>
        <p:nvSpPr>
          <p:cNvPr id="223" name="PlaceHolder 17"/>
          <p:cNvSpPr txBox="1"/>
          <p:nvPr/>
        </p:nvSpPr>
        <p:spPr>
          <a:xfrm>
            <a:off x="720360" y="444960"/>
            <a:ext cx="7703280" cy="57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3000" spc="-1" strike="noStrike">
                <a:solidFill>
                  <a:schemeClr val="dk1"/>
                </a:solidFill>
                <a:latin typeface="Livvic"/>
                <a:ea typeface="Livvic"/>
              </a:rPr>
              <a:t>Experimental Feature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18"/>
          <p:cNvSpPr txBox="1"/>
          <p:nvPr/>
        </p:nvSpPr>
        <p:spPr>
          <a:xfrm>
            <a:off x="1144440" y="1898280"/>
            <a:ext cx="3275640" cy="152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Concept: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Other AI assistants can directly submit meal entries into the system.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Benefits: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Cross-platform meal logging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Reduced manual effort 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lbert Sans"/>
                <a:ea typeface="Albert Sans"/>
              </a:rPr>
              <a:t>Extensible ecosystem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tabLst>
                <a:tab algn="l" pos="0"/>
              </a:tabLst>
            </a:pP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19"/>
          <p:cNvSpPr txBox="1"/>
          <p:nvPr/>
        </p:nvSpPr>
        <p:spPr>
          <a:xfrm>
            <a:off x="1144440" y="1409400"/>
            <a:ext cx="3275640" cy="558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1800" spc="-1" strike="noStrike">
                <a:solidFill>
                  <a:schemeClr val="dk1"/>
                </a:solidFill>
                <a:latin typeface="Livvic"/>
                <a:ea typeface="Livvic"/>
              </a:rPr>
              <a:t>WebMCP Integration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Google Shape;261;p 1" descr=""/>
          <p:cNvPicPr/>
          <p:nvPr/>
        </p:nvPicPr>
        <p:blipFill>
          <a:blip r:embed="rId7"/>
          <a:srcRect l="22301" t="8210" r="31877" b="35185"/>
          <a:stretch/>
        </p:blipFill>
        <p:spPr>
          <a:xfrm>
            <a:off x="8106840" y="977040"/>
            <a:ext cx="659880" cy="70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Clinical Nutrition Case Report by Slidesgo">
  <a:themeElements>
    <a:clrScheme name="Simple Light">
      <a:dk1>
        <a:srgbClr val="302543"/>
      </a:dk1>
      <a:lt1>
        <a:srgbClr val="f1f6e9"/>
      </a:lt1>
      <a:dk2>
        <a:srgbClr val="e4eed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54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2026-06-25T20:15:56Z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